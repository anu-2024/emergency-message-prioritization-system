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emergency-message-prioritization-system-s3syexzkrunhwwibtrbyeg.streamlit.app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anu-2024/Emergency-Message-Prioritization-System/tree/ma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B4D8"/>
                </a:solidFill>
                <a:latin typeface="Segoe UI" panose="020B0502040204020203"/>
              </a:defRPr>
            </a:pPr>
            <a:r>
              <a:t>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t>Emergency Message Prioritization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2103120" cy="38100"/>
          </a:xfrm>
          <a:prstGeom prst="rect">
            <a:avLst/>
          </a:prstGeom>
          <a:solidFill>
            <a:srgbClr val="00E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D8"/>
                </a:solidFill>
                <a:latin typeface="Segoe UI" panose="020B0502040204020203"/>
              </a:defRPr>
            </a:pPr>
            <a:r>
              <a:rPr dirty="0"/>
              <a:t>Combining NLP &amp; Reinforcement Learning for Disaster Response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 panose="020B0502040204020203"/>
              </a:defRPr>
            </a:pPr>
            <a:r>
              <a:rPr lang="en-IN" dirty="0"/>
              <a:t>ANU A | 2511022250085 | </a:t>
            </a:r>
            <a:r>
              <a:rPr dirty="0"/>
              <a:t>MCA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77264" y="457200"/>
            <a:ext cx="7112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4545"/>
                </a:solidFill>
                <a:latin typeface="Segoe UI" panose="020B0502040204020203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89238" y="1737360"/>
            <a:ext cx="34629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02F"/>
                </a:solidFill>
                <a:latin typeface="Segoe UI" panose="020B0502040204020203"/>
              </a:defRPr>
            </a:pPr>
            <a:r>
              <a:rPr dirty="0"/>
              <a:t>The Challenge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During disasters, thousands of free-text emergency messages flood in simultaneously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Human responders have limited capacity and cannot process all messages at once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Critical messages get buried in noise, leading to delayed response times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Manual triage is slow, inconsistent, and prone to human error under stress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No automated system exists to intelligently rank messages by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2758" y="1737360"/>
            <a:ext cx="36458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Segoe UI" panose="020B0502040204020203"/>
              </a:defRPr>
            </a:pPr>
            <a:r>
              <a:rPr dirty="0"/>
              <a:t>Real-World Impact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Delayed medical emergencies can result in loss of life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Resource allocation becomes inefficient without prioritization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Duplicate messages waste precious responder time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Location information scattered across messages is hard to extract</a:t>
            </a:r>
          </a:p>
          <a:p>
            <a:pPr>
              <a:spcAft>
                <a:spcPts val="800"/>
              </a:spcAft>
              <a:defRPr sz="1500">
                <a:solidFill>
                  <a:srgbClr val="B0BED8"/>
                </a:solidFill>
                <a:latin typeface="Segoe UI" panose="020B0502040204020203"/>
              </a:defRPr>
            </a:pPr>
            <a:r>
              <a:t>Existing systems rely on rigid categories, not free-text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00E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51122" y="457200"/>
            <a:ext cx="733879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FAA"/>
                </a:solidFill>
                <a:latin typeface="Segoe UI" panose="020B0502040204020203"/>
              </a:defRPr>
            </a:pPr>
            <a:r>
              <a:rPr dirty="0"/>
              <a:t>Purpose &amp; Objectives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 panose="020B0502040204020203"/>
              </a:defRPr>
            </a:pPr>
            <a:r>
              <a:t>To build an intelligent decision-support system that uses NLP to understand free-text emergency messages and Reinforcement Learning to optimally prioritize them, enabling faster and more effective disaster response while keeping a human in the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5603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256032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Segoe UI" panose="020B0502040204020203"/>
              </a:defRPr>
            </a:pPr>
            <a:r>
              <a:t>NLP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D8"/>
                </a:solidFill>
                <a:latin typeface="Segoe UI" panose="020B0502040204020203"/>
              </a:defRPr>
            </a:pPr>
            <a:r>
              <a:t>Classify messages into 8</a:t>
            </a:r>
            <a:br/>
            <a:r>
              <a:t>categories, detect urgency,</a:t>
            </a:r>
            <a:br/>
            <a:r>
              <a:t>extract locations, flag duplicates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474720"/>
            <a:ext cx="25603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3474720"/>
            <a:ext cx="2560320" cy="38100"/>
          </a:xfrm>
          <a:prstGeom prst="rect">
            <a:avLst/>
          </a:prstGeom>
          <a:solidFill>
            <a:srgbClr val="00E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FAA"/>
                </a:solidFill>
                <a:latin typeface="Segoe UI" panose="020B0502040204020203"/>
              </a:defRPr>
            </a:pPr>
            <a:r>
              <a:t>RL Prioritization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06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D8"/>
                </a:solidFill>
                <a:latin typeface="Segoe UI" panose="020B0502040204020203"/>
              </a:defRPr>
            </a:pPr>
            <a:r>
              <a:rPr dirty="0"/>
              <a:t>Train a DQN agent to</a:t>
            </a:r>
            <a:br>
              <a:rPr dirty="0"/>
            </a:br>
            <a:r>
              <a:rPr dirty="0"/>
              <a:t>optimally sequence messages</a:t>
            </a:r>
            <a:br>
              <a:rPr dirty="0"/>
            </a:br>
            <a:r>
              <a:rPr dirty="0"/>
              <a:t>for human review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400800" y="3474720"/>
            <a:ext cx="25603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474720"/>
            <a:ext cx="2560320" cy="38100"/>
          </a:xfrm>
          <a:prstGeom prst="rect">
            <a:avLst/>
          </a:prstGeom>
          <a:solidFill>
            <a:srgbClr val="FF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2F"/>
                </a:solidFill>
                <a:latin typeface="Segoe UI" panose="020B0502040204020203"/>
              </a:defRPr>
            </a:pPr>
            <a: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4426" y="4587240"/>
            <a:ext cx="200381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D8"/>
                </a:solidFill>
                <a:latin typeface="Segoe UI" panose="020B0502040204020203"/>
              </a:defRPr>
            </a:pPr>
            <a:r>
              <a:rPr dirty="0"/>
              <a:t>System suggests priorities</a:t>
            </a:r>
            <a:br>
              <a:rPr dirty="0"/>
            </a:br>
            <a:r>
              <a:rPr dirty="0"/>
              <a:t>but never auto-dispatches;</a:t>
            </a:r>
            <a:br>
              <a:rPr dirty="0"/>
            </a:br>
            <a:r>
              <a:rPr dirty="0"/>
              <a:t>human always decides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9235440" y="3474720"/>
            <a:ext cx="25603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3474720"/>
            <a:ext cx="256032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 panose="020B0502040204020203"/>
              </a:defRPr>
            </a:pPr>
            <a:r>
              <a:t>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2062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D8"/>
                </a:solidFill>
                <a:latin typeface="Segoe UI" panose="020B0502040204020203"/>
              </a:defRPr>
            </a:pPr>
            <a:r>
              <a:t>Reduce responder cognitive</a:t>
            </a:r>
            <a:br/>
            <a:r>
              <a:t>load by presenting ranked</a:t>
            </a:r>
            <a:br/>
            <a:r>
              <a:t>priority queues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8825" y="457200"/>
            <a:ext cx="749109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  <a:latin typeface="Segoe UI" panose="020B0502040204020203"/>
              </a:defRPr>
            </a:pPr>
            <a:r>
              <a:t>End-to-End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&gt;&gt;&gt;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Segoe UI" panose="020B0502040204020203"/>
              </a:defRPr>
            </a:pPr>
            <a:r>
              <a:t>Data</a:t>
            </a:r>
            <a:br/>
            <a:r>
              <a:t>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Synthetic messages</a:t>
            </a:r>
            <a:br/>
            <a:r>
              <a:t>created via templates</a:t>
            </a:r>
          </a:p>
        </p:txBody>
      </p:sp>
      <p:sp>
        <p:nvSpPr>
          <p:cNvPr id="9" name="Oval 8"/>
          <p:cNvSpPr/>
          <p:nvPr/>
        </p:nvSpPr>
        <p:spPr>
          <a:xfrm>
            <a:off x="2606040" y="1828800"/>
            <a:ext cx="457200" cy="457200"/>
          </a:xfrm>
          <a:prstGeom prst="ellipse">
            <a:avLst/>
          </a:prstGeom>
          <a:solidFill>
            <a:srgbClr val="00E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&gt;&gt;&gt;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FAA"/>
                </a:solidFill>
                <a:latin typeface="Segoe UI" panose="020B0502040204020203"/>
              </a:defRPr>
            </a:pPr>
            <a:r>
              <a:t>NLP</a:t>
            </a:r>
            <a:br/>
            <a:r>
              <a:t>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TF-IDF + LogReg</a:t>
            </a:r>
            <a:br/>
            <a:r>
              <a:t>models trained</a:t>
            </a:r>
          </a:p>
        </p:txBody>
      </p:sp>
      <p:sp>
        <p:nvSpPr>
          <p:cNvPr id="13" name="Oval 12"/>
          <p:cNvSpPr/>
          <p:nvPr/>
        </p:nvSpPr>
        <p:spPr>
          <a:xfrm>
            <a:off x="4251959" y="1828800"/>
            <a:ext cx="457200" cy="457200"/>
          </a:xfrm>
          <a:prstGeom prst="ellipse">
            <a:avLst/>
          </a:prstGeom>
          <a:solidFill>
            <a:srgbClr val="FF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&gt;&gt;&gt;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02F"/>
                </a:solidFill>
                <a:latin typeface="Segoe UI" panose="020B0502040204020203"/>
              </a:defRPr>
            </a:pPr>
            <a:r>
              <a:t>Message</a:t>
            </a:r>
            <a:br/>
            <a: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User submits</a:t>
            </a:r>
            <a:br/>
            <a:r>
              <a:t>free-text message</a:t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1828800"/>
            <a:ext cx="457200" cy="45720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&gt;&gt;&gt;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545"/>
                </a:solidFill>
                <a:latin typeface="Segoe UI" panose="020B0502040204020203"/>
              </a:defRPr>
            </a:pPr>
            <a:r>
              <a:t>NLP</a:t>
            </a:r>
            <a:br/>
            <a: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Category, urgency,</a:t>
            </a:r>
            <a:br/>
            <a:r>
              <a:t>location extracted</a:t>
            </a:r>
          </a:p>
        </p:txBody>
      </p:sp>
      <p:sp>
        <p:nvSpPr>
          <p:cNvPr id="21" name="Oval 20"/>
          <p:cNvSpPr/>
          <p:nvPr/>
        </p:nvSpPr>
        <p:spPr>
          <a:xfrm>
            <a:off x="7543800" y="1828800"/>
            <a:ext cx="457200" cy="45720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&gt;&gt;&gt;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600"/>
                </a:solidFill>
                <a:latin typeface="Segoe UI" panose="020B0502040204020203"/>
              </a:defRPr>
            </a:pPr>
            <a:r>
              <a:t>Human</a:t>
            </a:r>
            <a:br/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Accept/reject</a:t>
            </a:r>
            <a:br/>
            <a:r>
              <a:t>messages</a:t>
            </a:r>
          </a:p>
        </p:txBody>
      </p:sp>
      <p:sp>
        <p:nvSpPr>
          <p:cNvPr id="25" name="Oval 24"/>
          <p:cNvSpPr/>
          <p:nvPr/>
        </p:nvSpPr>
        <p:spPr>
          <a:xfrm>
            <a:off x="9189720" y="18288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&gt;&gt;&gt;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Segoe UI" panose="020B0502040204020203"/>
              </a:defRPr>
            </a:pPr>
            <a:r>
              <a:t>RL</a:t>
            </a:r>
            <a:br/>
            <a:r>
              <a:t>Prioritization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DQN agent ranks</a:t>
            </a:r>
            <a:br/>
            <a:r>
              <a:t>accepted messages</a:t>
            </a:r>
          </a:p>
        </p:txBody>
      </p:sp>
      <p:sp>
        <p:nvSpPr>
          <p:cNvPr id="29" name="Oval 28"/>
          <p:cNvSpPr/>
          <p:nvPr/>
        </p:nvSpPr>
        <p:spPr>
          <a:xfrm>
            <a:off x="10835640" y="18288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468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 panose="020B0502040204020203"/>
              </a:defRPr>
            </a:pPr>
            <a:r>
              <a:t>Priority</a:t>
            </a:r>
            <a:br/>
            <a:r>
              <a:t>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320040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D8"/>
                </a:solidFill>
                <a:latin typeface="Segoe UI" panose="020B0502040204020203"/>
              </a:defRPr>
            </a:pPr>
            <a:r>
              <a:t>Ranked list with</a:t>
            </a:r>
            <a:br/>
            <a:r>
              <a:t>metrics displayed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89965" y="4753610"/>
            <a:ext cx="11767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</a:rPr>
              <a:t>Live Deployed App:</a:t>
            </a:r>
            <a:r>
              <a:rPr lang="en-IN" altLang="en-US">
                <a:solidFill>
                  <a:schemeClr val="bg1"/>
                </a:solidFill>
              </a:rPr>
              <a:t>     </a:t>
            </a:r>
            <a:r>
              <a:rPr lang="en-IN" altLang="en-US">
                <a:solidFill>
                  <a:schemeClr val="bg1"/>
                </a:solidFill>
                <a:hlinkClick r:id="rId1" tooltip="" action="ppaction://hlinkfile"/>
              </a:rPr>
              <a:t>https://emergency-message-prioritization-system-s3syexzkrunhwwibtrbyeg.streamlit.app/</a:t>
            </a:r>
            <a:endParaRPr lang="en-I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9528" y="457200"/>
            <a:ext cx="7880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855F7"/>
                </a:solidFill>
                <a:latin typeface="Segoe UI" panose="020B0502040204020203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3500" cy="10515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 panose="020B0502040204020203"/>
              </a:defRPr>
            </a:pPr>
            <a:r>
              <a:t>Real Data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Replace synthetic data with real disaster message datasets (Appen/Figure Eight, CrisisNLP, or live Twitter feeds) for production-grade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63500" cy="1051560"/>
          </a:xfrm>
          <a:prstGeom prst="roundRect">
            <a:avLst/>
          </a:prstGeom>
          <a:solidFill>
            <a:srgbClr val="00E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FAA"/>
                </a:solidFill>
                <a:latin typeface="Segoe UI" panose="020B0502040204020203"/>
              </a:defRPr>
            </a:pPr>
            <a:r>
              <a:t>Transformer-Based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Upgrade from TF-IDF + LogReg to fine-tuned BERT/RoBERTa models for significantly better classification accuracy on complex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63500" cy="1051560"/>
          </a:xfrm>
          <a:prstGeom prst="round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2F"/>
                </a:solidFill>
                <a:latin typeface="Segoe UI" panose="020B0502040204020203"/>
              </a:defRPr>
            </a:pPr>
            <a:r>
              <a:t>Multi-Agent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46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Implement multi-agent reinforcement learning to simulate multiple responders working in parallel with different specializations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8036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880360"/>
            <a:ext cx="63500" cy="1051560"/>
          </a:xfrm>
          <a:prstGeom prst="round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Segoe UI" panose="020B0502040204020203"/>
              </a:defRPr>
            </a:pPr>
            <a:r>
              <a:t>Real-Time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246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Integrate with message APIs (Twilio, WhatsApp Business) for real-time message ingestion and live prioritization during actual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63500" cy="105156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 panose="020B0502040204020203"/>
              </a:defRPr>
            </a:pPr>
            <a:r>
              <a:t>Geospatial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80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Add interactive map visualization using Folium/Leaflet to show message locations and resource deployment zones in real-time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63500" cy="105156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Segoe UI" panose="020B0502040204020203"/>
              </a:defRPr>
            </a:pPr>
            <a:r>
              <a:t>Escalation Policies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480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Implement automatic escalation rules that increase priority for critical messages that have not been reviewed within configurable time windows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4924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349240"/>
            <a:ext cx="63500" cy="105156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 panose="020B0502040204020203"/>
              </a:defRPr>
            </a:pPr>
            <a:r>
              <a:t>Mobile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715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Build a companion mobile app for field responders to receive prioritized notifications and update message status in real-time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49240"/>
            <a:ext cx="5394960" cy="10515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5349240"/>
            <a:ext cx="63500" cy="1051560"/>
          </a:xfrm>
          <a:prstGeom prst="roundRect">
            <a:avLst/>
          </a:prstGeom>
          <a:solidFill>
            <a:srgbClr val="6B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3"/>
                </a:solidFill>
                <a:latin typeface="Segoe UI" panose="020B0502040204020203"/>
              </a:defRPr>
            </a:pPr>
            <a:r>
              <a:t>Multilingual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715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8"/>
                </a:solidFill>
                <a:latin typeface="Segoe UI" panose="020B0502040204020203"/>
              </a:defRPr>
            </a:pPr>
            <a:r>
              <a:t>Add support for multiple languages using multilingual NLP models to handle emergency messages from diverse populations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B4D8"/>
                </a:solidFill>
                <a:latin typeface="Segoe UI" panose="020B0502040204020203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00E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 panose="020B0502040204020203"/>
              </a:defRPr>
            </a:pPr>
            <a:r>
              <a:t>Emergency Message Prioritization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D8"/>
                </a:solidFill>
                <a:latin typeface="Segoe UI" panose="020B0502040204020203"/>
              </a:defRPr>
            </a:pPr>
            <a:r>
              <a:t>NLP + Reinforcement Learning for Smarter Disaster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 panose="020B0502040204020203"/>
              </a:defRPr>
            </a:pPr>
            <a:r>
              <a:rPr lang="en-US" altLang="en-US" dirty="0">
                <a:hlinkClick r:id="rId1" tooltip="" action="ppaction://hlinkfile"/>
              </a:rPr>
              <a:t>https://github.com/anu-2024/Emergency-Message-Prioritization-System/tree/master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3349</Words>
  <Application>WPS Presentation</Application>
  <PresentationFormat>Widescreen</PresentationFormat>
  <Paragraphs>146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Anu Anjenappa</cp:lastModifiedBy>
  <cp:revision>5</cp:revision>
  <dcterms:created xsi:type="dcterms:W3CDTF">2013-01-27T09:14:00Z</dcterms:created>
  <dcterms:modified xsi:type="dcterms:W3CDTF">2026-08-19T07:29:47Z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2D5ED4F19E164F10A7BD147F65B136D1_12</vt:lpwstr>
  </property>
</Properties>
</file>